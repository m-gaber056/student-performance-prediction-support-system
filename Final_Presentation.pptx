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234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2AC0C5-48D8-4433-927D-E43E00EC177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FE9B35-AD9D-455F-A05C-E34A07056BEE}">
      <dgm:prSet/>
      <dgm:spPr/>
      <dgm:t>
        <a:bodyPr/>
        <a:lstStyle/>
        <a:p>
          <a:pPr rtl="0"/>
          <a:r>
            <a:rPr lang="en-US" dirty="0" smtClean="0"/>
            <a:t>Preprocessing </a:t>
          </a:r>
          <a:endParaRPr lang="en-US" dirty="0"/>
        </a:p>
      </dgm:t>
    </dgm:pt>
    <dgm:pt modelId="{E483ADDD-5C58-460F-81F9-A57A6DDA4ED9}" type="parTrans" cxnId="{8F2324E7-FD06-434B-8288-64850DE3E0A7}">
      <dgm:prSet/>
      <dgm:spPr/>
      <dgm:t>
        <a:bodyPr/>
        <a:lstStyle/>
        <a:p>
          <a:endParaRPr lang="en-US"/>
        </a:p>
      </dgm:t>
    </dgm:pt>
    <dgm:pt modelId="{34017C58-A620-4757-86C5-1F5F8B102DF4}" type="sibTrans" cxnId="{8F2324E7-FD06-434B-8288-64850DE3E0A7}">
      <dgm:prSet/>
      <dgm:spPr/>
      <dgm:t>
        <a:bodyPr/>
        <a:lstStyle/>
        <a:p>
          <a:endParaRPr lang="en-US"/>
        </a:p>
      </dgm:t>
    </dgm:pt>
    <dgm:pt modelId="{13B9DDB9-0F1E-4EDB-BE8C-8B9230A6710D}">
      <dgm:prSet/>
      <dgm:spPr/>
      <dgm:t>
        <a:bodyPr/>
        <a:lstStyle/>
        <a:p>
          <a:pPr rtl="0"/>
          <a:r>
            <a:rPr lang="en-US" smtClean="0"/>
            <a:t>Feature Engineering </a:t>
          </a:r>
          <a:endParaRPr lang="en-US"/>
        </a:p>
      </dgm:t>
    </dgm:pt>
    <dgm:pt modelId="{CB72ECED-793F-408D-931E-E31D15FDD982}" type="parTrans" cxnId="{0B722F0F-71D6-41DA-84AB-8E4D176B9633}">
      <dgm:prSet/>
      <dgm:spPr/>
      <dgm:t>
        <a:bodyPr/>
        <a:lstStyle/>
        <a:p>
          <a:endParaRPr lang="en-US"/>
        </a:p>
      </dgm:t>
    </dgm:pt>
    <dgm:pt modelId="{79F0571A-B3DD-4635-8E75-95E94B4E375A}" type="sibTrans" cxnId="{0B722F0F-71D6-41DA-84AB-8E4D176B9633}">
      <dgm:prSet/>
      <dgm:spPr/>
      <dgm:t>
        <a:bodyPr/>
        <a:lstStyle/>
        <a:p>
          <a:endParaRPr lang="en-US"/>
        </a:p>
      </dgm:t>
    </dgm:pt>
    <dgm:pt modelId="{D568925D-0A2E-40AE-B643-78EAA8483616}">
      <dgm:prSet/>
      <dgm:spPr/>
      <dgm:t>
        <a:bodyPr/>
        <a:lstStyle/>
        <a:p>
          <a:pPr rtl="0"/>
          <a:r>
            <a:rPr lang="en-US" smtClean="0"/>
            <a:t>Model Training</a:t>
          </a:r>
          <a:endParaRPr lang="en-US"/>
        </a:p>
      </dgm:t>
    </dgm:pt>
    <dgm:pt modelId="{88D2D974-D487-4305-826B-B038A33175F9}" type="parTrans" cxnId="{A0355935-C5D8-4897-8F7F-F824166B8564}">
      <dgm:prSet/>
      <dgm:spPr/>
      <dgm:t>
        <a:bodyPr/>
        <a:lstStyle/>
        <a:p>
          <a:endParaRPr lang="en-US"/>
        </a:p>
      </dgm:t>
    </dgm:pt>
    <dgm:pt modelId="{BB5217A9-E55D-49C9-8B89-5F4FB5E4E7CB}" type="sibTrans" cxnId="{A0355935-C5D8-4897-8F7F-F824166B8564}">
      <dgm:prSet/>
      <dgm:spPr/>
      <dgm:t>
        <a:bodyPr/>
        <a:lstStyle/>
        <a:p>
          <a:endParaRPr lang="en-US"/>
        </a:p>
      </dgm:t>
    </dgm:pt>
    <dgm:pt modelId="{E228D739-A2C9-4CC0-8603-54A399449159}">
      <dgm:prSet/>
      <dgm:spPr/>
      <dgm:t>
        <a:bodyPr/>
        <a:lstStyle/>
        <a:p>
          <a:pPr rtl="0"/>
          <a:r>
            <a:rPr lang="en-US" smtClean="0"/>
            <a:t>Evaluation</a:t>
          </a:r>
          <a:endParaRPr lang="en-US"/>
        </a:p>
      </dgm:t>
    </dgm:pt>
    <dgm:pt modelId="{548E2106-E3AF-4523-8A1B-0F192C3BC7A0}" type="parTrans" cxnId="{19E9BAB2-E32F-4FFC-B76D-EB758217EB3B}">
      <dgm:prSet/>
      <dgm:spPr/>
      <dgm:t>
        <a:bodyPr/>
        <a:lstStyle/>
        <a:p>
          <a:endParaRPr lang="en-US"/>
        </a:p>
      </dgm:t>
    </dgm:pt>
    <dgm:pt modelId="{E43078D6-8C6E-484A-992A-695C31B9078E}" type="sibTrans" cxnId="{19E9BAB2-E32F-4FFC-B76D-EB758217EB3B}">
      <dgm:prSet/>
      <dgm:spPr/>
      <dgm:t>
        <a:bodyPr/>
        <a:lstStyle/>
        <a:p>
          <a:endParaRPr lang="en-US"/>
        </a:p>
      </dgm:t>
    </dgm:pt>
    <dgm:pt modelId="{6BC2539F-0A68-49CD-9F47-E129BF72C469}">
      <dgm:prSet/>
      <dgm:spPr/>
      <dgm:t>
        <a:bodyPr/>
        <a:lstStyle/>
        <a:p>
          <a:pPr rtl="0"/>
          <a:r>
            <a:rPr lang="en-US" smtClean="0"/>
            <a:t>Deployment</a:t>
          </a:r>
          <a:endParaRPr lang="en-US"/>
        </a:p>
      </dgm:t>
    </dgm:pt>
    <dgm:pt modelId="{0127D932-DCD0-4601-A386-6532FB85446A}" type="parTrans" cxnId="{151F98A4-5DA5-45CF-8F97-C6A13D6E9D83}">
      <dgm:prSet/>
      <dgm:spPr/>
      <dgm:t>
        <a:bodyPr/>
        <a:lstStyle/>
        <a:p>
          <a:endParaRPr lang="en-US"/>
        </a:p>
      </dgm:t>
    </dgm:pt>
    <dgm:pt modelId="{67241FE5-FFAB-4222-A823-02CB5DCFD74C}" type="sibTrans" cxnId="{151F98A4-5DA5-45CF-8F97-C6A13D6E9D83}">
      <dgm:prSet/>
      <dgm:spPr/>
      <dgm:t>
        <a:bodyPr/>
        <a:lstStyle/>
        <a:p>
          <a:endParaRPr lang="en-US"/>
        </a:p>
      </dgm:t>
    </dgm:pt>
    <dgm:pt modelId="{EC24FE5E-0E02-4CCC-A865-FEBF76A744A9}">
      <dgm:prSet/>
      <dgm:spPr/>
      <dgm:t>
        <a:bodyPr/>
        <a:lstStyle/>
        <a:p>
          <a:pPr rtl="0"/>
          <a:r>
            <a:rPr lang="en-US" dirty="0" smtClean="0"/>
            <a:t>Data</a:t>
          </a:r>
          <a:endParaRPr lang="en-US" dirty="0"/>
        </a:p>
      </dgm:t>
    </dgm:pt>
    <dgm:pt modelId="{722A74E1-E5A4-4DA1-96C9-C88FC9677D9C}" type="parTrans" cxnId="{F98D8A26-345F-40FB-8C95-1B000EB7AF17}">
      <dgm:prSet/>
      <dgm:spPr/>
      <dgm:t>
        <a:bodyPr/>
        <a:lstStyle/>
        <a:p>
          <a:endParaRPr lang="en-US"/>
        </a:p>
      </dgm:t>
    </dgm:pt>
    <dgm:pt modelId="{28A31C0F-6AE4-4B3E-A85D-34C67BCB2034}" type="sibTrans" cxnId="{F98D8A26-345F-40FB-8C95-1B000EB7AF17}">
      <dgm:prSet/>
      <dgm:spPr/>
      <dgm:t>
        <a:bodyPr/>
        <a:lstStyle/>
        <a:p>
          <a:endParaRPr lang="en-US"/>
        </a:p>
      </dgm:t>
    </dgm:pt>
    <dgm:pt modelId="{F210F551-479E-4E50-ACCD-ECA6CF5F0DA7}" type="pres">
      <dgm:prSet presAssocID="{7C2AC0C5-48D8-4433-927D-E43E00EC177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7FF17AD-6C4D-4750-A1D2-D51A9BF90C8F}" type="pres">
      <dgm:prSet presAssocID="{EC24FE5E-0E02-4CCC-A865-FEBF76A744A9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B730C8-1D37-4555-8895-2198F61DC230}" type="pres">
      <dgm:prSet presAssocID="{28A31C0F-6AE4-4B3E-A85D-34C67BCB2034}" presName="parTxOnlySpace" presStyleCnt="0"/>
      <dgm:spPr/>
    </dgm:pt>
    <dgm:pt modelId="{16451E77-0A43-4D8F-A991-3209252FC9C0}" type="pres">
      <dgm:prSet presAssocID="{D0FE9B35-AD9D-455F-A05C-E34A07056BE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25E19E-64F9-448C-A02D-4A7F11306381}" type="pres">
      <dgm:prSet presAssocID="{34017C58-A620-4757-86C5-1F5F8B102DF4}" presName="parTxOnlySpace" presStyleCnt="0"/>
      <dgm:spPr/>
    </dgm:pt>
    <dgm:pt modelId="{35E6E87C-B15A-4427-B51E-60B8479D4951}" type="pres">
      <dgm:prSet presAssocID="{13B9DDB9-0F1E-4EDB-BE8C-8B9230A6710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7AB479-18F7-474C-9155-D72AD8003000}" type="pres">
      <dgm:prSet presAssocID="{79F0571A-B3DD-4635-8E75-95E94B4E375A}" presName="parTxOnlySpace" presStyleCnt="0"/>
      <dgm:spPr/>
    </dgm:pt>
    <dgm:pt modelId="{7C894A42-DEDA-4FEF-8845-D2FCC070949E}" type="pres">
      <dgm:prSet presAssocID="{D568925D-0A2E-40AE-B643-78EAA8483616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66B3C3-7E98-4AAB-819C-30E478B9F9BF}" type="pres">
      <dgm:prSet presAssocID="{BB5217A9-E55D-49C9-8B89-5F4FB5E4E7CB}" presName="parTxOnlySpace" presStyleCnt="0"/>
      <dgm:spPr/>
    </dgm:pt>
    <dgm:pt modelId="{9B1D4F86-7B68-4EB7-9308-36E839532BBA}" type="pres">
      <dgm:prSet presAssocID="{E228D739-A2C9-4CC0-8603-54A399449159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B646DA-03FF-4704-8A51-3C03A0517B59}" type="pres">
      <dgm:prSet presAssocID="{E43078D6-8C6E-484A-992A-695C31B9078E}" presName="parTxOnlySpace" presStyleCnt="0"/>
      <dgm:spPr/>
    </dgm:pt>
    <dgm:pt modelId="{025068F7-DEE1-4E6A-9C95-8C8FF77D536A}" type="pres">
      <dgm:prSet presAssocID="{6BC2539F-0A68-49CD-9F47-E129BF72C46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A679609-8E48-499F-852A-0421BB68E006}" type="presOf" srcId="{E228D739-A2C9-4CC0-8603-54A399449159}" destId="{9B1D4F86-7B68-4EB7-9308-36E839532BBA}" srcOrd="0" destOrd="0" presId="urn:microsoft.com/office/officeart/2005/8/layout/chevron1"/>
    <dgm:cxn modelId="{E4367501-2F4F-465A-8CA4-CAC4EDBD4063}" type="presOf" srcId="{7C2AC0C5-48D8-4433-927D-E43E00EC177F}" destId="{F210F551-479E-4E50-ACCD-ECA6CF5F0DA7}" srcOrd="0" destOrd="0" presId="urn:microsoft.com/office/officeart/2005/8/layout/chevron1"/>
    <dgm:cxn modelId="{9860E891-FD8D-43CB-B5F9-B39FB11771F2}" type="presOf" srcId="{6BC2539F-0A68-49CD-9F47-E129BF72C469}" destId="{025068F7-DEE1-4E6A-9C95-8C8FF77D536A}" srcOrd="0" destOrd="0" presId="urn:microsoft.com/office/officeart/2005/8/layout/chevron1"/>
    <dgm:cxn modelId="{A0355935-C5D8-4897-8F7F-F824166B8564}" srcId="{7C2AC0C5-48D8-4433-927D-E43E00EC177F}" destId="{D568925D-0A2E-40AE-B643-78EAA8483616}" srcOrd="3" destOrd="0" parTransId="{88D2D974-D487-4305-826B-B038A33175F9}" sibTransId="{BB5217A9-E55D-49C9-8B89-5F4FB5E4E7CB}"/>
    <dgm:cxn modelId="{F98D8A26-345F-40FB-8C95-1B000EB7AF17}" srcId="{7C2AC0C5-48D8-4433-927D-E43E00EC177F}" destId="{EC24FE5E-0E02-4CCC-A865-FEBF76A744A9}" srcOrd="0" destOrd="0" parTransId="{722A74E1-E5A4-4DA1-96C9-C88FC9677D9C}" sibTransId="{28A31C0F-6AE4-4B3E-A85D-34C67BCB2034}"/>
    <dgm:cxn modelId="{8F2324E7-FD06-434B-8288-64850DE3E0A7}" srcId="{7C2AC0C5-48D8-4433-927D-E43E00EC177F}" destId="{D0FE9B35-AD9D-455F-A05C-E34A07056BEE}" srcOrd="1" destOrd="0" parTransId="{E483ADDD-5C58-460F-81F9-A57A6DDA4ED9}" sibTransId="{34017C58-A620-4757-86C5-1F5F8B102DF4}"/>
    <dgm:cxn modelId="{498AD1FC-8971-4F0C-B053-21434B64D509}" type="presOf" srcId="{EC24FE5E-0E02-4CCC-A865-FEBF76A744A9}" destId="{A7FF17AD-6C4D-4750-A1D2-D51A9BF90C8F}" srcOrd="0" destOrd="0" presId="urn:microsoft.com/office/officeart/2005/8/layout/chevron1"/>
    <dgm:cxn modelId="{19E9BAB2-E32F-4FFC-B76D-EB758217EB3B}" srcId="{7C2AC0C5-48D8-4433-927D-E43E00EC177F}" destId="{E228D739-A2C9-4CC0-8603-54A399449159}" srcOrd="4" destOrd="0" parTransId="{548E2106-E3AF-4523-8A1B-0F192C3BC7A0}" sibTransId="{E43078D6-8C6E-484A-992A-695C31B9078E}"/>
    <dgm:cxn modelId="{E83225A5-36A1-42A4-A14E-B677C14ACCD4}" type="presOf" srcId="{13B9DDB9-0F1E-4EDB-BE8C-8B9230A6710D}" destId="{35E6E87C-B15A-4427-B51E-60B8479D4951}" srcOrd="0" destOrd="0" presId="urn:microsoft.com/office/officeart/2005/8/layout/chevron1"/>
    <dgm:cxn modelId="{0B722F0F-71D6-41DA-84AB-8E4D176B9633}" srcId="{7C2AC0C5-48D8-4433-927D-E43E00EC177F}" destId="{13B9DDB9-0F1E-4EDB-BE8C-8B9230A6710D}" srcOrd="2" destOrd="0" parTransId="{CB72ECED-793F-408D-931E-E31D15FDD982}" sibTransId="{79F0571A-B3DD-4635-8E75-95E94B4E375A}"/>
    <dgm:cxn modelId="{151F98A4-5DA5-45CF-8F97-C6A13D6E9D83}" srcId="{7C2AC0C5-48D8-4433-927D-E43E00EC177F}" destId="{6BC2539F-0A68-49CD-9F47-E129BF72C469}" srcOrd="5" destOrd="0" parTransId="{0127D932-DCD0-4601-A386-6532FB85446A}" sibTransId="{67241FE5-FFAB-4222-A823-02CB5DCFD74C}"/>
    <dgm:cxn modelId="{DFF45061-4030-46A3-9EC8-F5135D449F45}" type="presOf" srcId="{D0FE9B35-AD9D-455F-A05C-E34A07056BEE}" destId="{16451E77-0A43-4D8F-A991-3209252FC9C0}" srcOrd="0" destOrd="0" presId="urn:microsoft.com/office/officeart/2005/8/layout/chevron1"/>
    <dgm:cxn modelId="{87BDD712-3959-4576-A096-6559FECADBE0}" type="presOf" srcId="{D568925D-0A2E-40AE-B643-78EAA8483616}" destId="{7C894A42-DEDA-4FEF-8845-D2FCC070949E}" srcOrd="0" destOrd="0" presId="urn:microsoft.com/office/officeart/2005/8/layout/chevron1"/>
    <dgm:cxn modelId="{3B017F34-F4BD-48AC-8E86-06C31195E0EA}" type="presParOf" srcId="{F210F551-479E-4E50-ACCD-ECA6CF5F0DA7}" destId="{A7FF17AD-6C4D-4750-A1D2-D51A9BF90C8F}" srcOrd="0" destOrd="0" presId="urn:microsoft.com/office/officeart/2005/8/layout/chevron1"/>
    <dgm:cxn modelId="{0E1D956E-CA44-4875-8112-154EF1FA5CFF}" type="presParOf" srcId="{F210F551-479E-4E50-ACCD-ECA6CF5F0DA7}" destId="{91B730C8-1D37-4555-8895-2198F61DC230}" srcOrd="1" destOrd="0" presId="urn:microsoft.com/office/officeart/2005/8/layout/chevron1"/>
    <dgm:cxn modelId="{BF73CC67-2F12-4E06-BC3B-E0CAC011486A}" type="presParOf" srcId="{F210F551-479E-4E50-ACCD-ECA6CF5F0DA7}" destId="{16451E77-0A43-4D8F-A991-3209252FC9C0}" srcOrd="2" destOrd="0" presId="urn:microsoft.com/office/officeart/2005/8/layout/chevron1"/>
    <dgm:cxn modelId="{BFEE9A42-0A54-4C40-AD6E-E210752C728C}" type="presParOf" srcId="{F210F551-479E-4E50-ACCD-ECA6CF5F0DA7}" destId="{7525E19E-64F9-448C-A02D-4A7F11306381}" srcOrd="3" destOrd="0" presId="urn:microsoft.com/office/officeart/2005/8/layout/chevron1"/>
    <dgm:cxn modelId="{BDB805C7-F694-4445-96E0-35DD794CF3B7}" type="presParOf" srcId="{F210F551-479E-4E50-ACCD-ECA6CF5F0DA7}" destId="{35E6E87C-B15A-4427-B51E-60B8479D4951}" srcOrd="4" destOrd="0" presId="urn:microsoft.com/office/officeart/2005/8/layout/chevron1"/>
    <dgm:cxn modelId="{D28E5D0C-5C1A-49A2-A83E-5C2D50184C14}" type="presParOf" srcId="{F210F551-479E-4E50-ACCD-ECA6CF5F0DA7}" destId="{4E7AB479-18F7-474C-9155-D72AD8003000}" srcOrd="5" destOrd="0" presId="urn:microsoft.com/office/officeart/2005/8/layout/chevron1"/>
    <dgm:cxn modelId="{F94E9960-9B99-49C5-B4DC-31F7EE1ECFEC}" type="presParOf" srcId="{F210F551-479E-4E50-ACCD-ECA6CF5F0DA7}" destId="{7C894A42-DEDA-4FEF-8845-D2FCC070949E}" srcOrd="6" destOrd="0" presId="urn:microsoft.com/office/officeart/2005/8/layout/chevron1"/>
    <dgm:cxn modelId="{74CFE98D-B7A2-4CB0-8603-894229C9B025}" type="presParOf" srcId="{F210F551-479E-4E50-ACCD-ECA6CF5F0DA7}" destId="{1066B3C3-7E98-4AAB-819C-30E478B9F9BF}" srcOrd="7" destOrd="0" presId="urn:microsoft.com/office/officeart/2005/8/layout/chevron1"/>
    <dgm:cxn modelId="{ED5494D8-6783-4632-8B97-FD0A99A36757}" type="presParOf" srcId="{F210F551-479E-4E50-ACCD-ECA6CF5F0DA7}" destId="{9B1D4F86-7B68-4EB7-9308-36E839532BBA}" srcOrd="8" destOrd="0" presId="urn:microsoft.com/office/officeart/2005/8/layout/chevron1"/>
    <dgm:cxn modelId="{AB59E333-F2F0-4C1A-83BD-38A2E8BEA5B9}" type="presParOf" srcId="{F210F551-479E-4E50-ACCD-ECA6CF5F0DA7}" destId="{1EB646DA-03FF-4704-8A51-3C03A0517B59}" srcOrd="9" destOrd="0" presId="urn:microsoft.com/office/officeart/2005/8/layout/chevron1"/>
    <dgm:cxn modelId="{EE70C234-85BF-4C49-880B-6AB7025B653C}" type="presParOf" srcId="{F210F551-479E-4E50-ACCD-ECA6CF5F0DA7}" destId="{025068F7-DEE1-4E6A-9C95-8C8FF77D536A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F17AD-6C4D-4750-A1D2-D51A9BF90C8F}">
      <dsp:nvSpPr>
        <dsp:cNvPr id="0" name=""/>
        <dsp:cNvSpPr/>
      </dsp:nvSpPr>
      <dsp:spPr>
        <a:xfrm>
          <a:off x="3508" y="1709624"/>
          <a:ext cx="1305289" cy="5221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Data</a:t>
          </a:r>
          <a:endParaRPr lang="en-US" sz="800" kern="1200" dirty="0"/>
        </a:p>
      </dsp:txBody>
      <dsp:txXfrm>
        <a:off x="264566" y="1709624"/>
        <a:ext cx="783174" cy="522115"/>
      </dsp:txXfrm>
    </dsp:sp>
    <dsp:sp modelId="{16451E77-0A43-4D8F-A991-3209252FC9C0}">
      <dsp:nvSpPr>
        <dsp:cNvPr id="0" name=""/>
        <dsp:cNvSpPr/>
      </dsp:nvSpPr>
      <dsp:spPr>
        <a:xfrm>
          <a:off x="1178269" y="1709624"/>
          <a:ext cx="1305289" cy="5221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Preprocessing </a:t>
          </a:r>
          <a:endParaRPr lang="en-US" sz="800" kern="1200" dirty="0"/>
        </a:p>
      </dsp:txBody>
      <dsp:txXfrm>
        <a:off x="1439327" y="1709624"/>
        <a:ext cx="783174" cy="522115"/>
      </dsp:txXfrm>
    </dsp:sp>
    <dsp:sp modelId="{35E6E87C-B15A-4427-B51E-60B8479D4951}">
      <dsp:nvSpPr>
        <dsp:cNvPr id="0" name=""/>
        <dsp:cNvSpPr/>
      </dsp:nvSpPr>
      <dsp:spPr>
        <a:xfrm>
          <a:off x="2353029" y="1709624"/>
          <a:ext cx="1305289" cy="5221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Feature Engineering </a:t>
          </a:r>
          <a:endParaRPr lang="en-US" sz="800" kern="1200"/>
        </a:p>
      </dsp:txBody>
      <dsp:txXfrm>
        <a:off x="2614087" y="1709624"/>
        <a:ext cx="783174" cy="522115"/>
      </dsp:txXfrm>
    </dsp:sp>
    <dsp:sp modelId="{7C894A42-DEDA-4FEF-8845-D2FCC070949E}">
      <dsp:nvSpPr>
        <dsp:cNvPr id="0" name=""/>
        <dsp:cNvSpPr/>
      </dsp:nvSpPr>
      <dsp:spPr>
        <a:xfrm>
          <a:off x="3527789" y="1709624"/>
          <a:ext cx="1305289" cy="5221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Model Training</a:t>
          </a:r>
          <a:endParaRPr lang="en-US" sz="800" kern="1200"/>
        </a:p>
      </dsp:txBody>
      <dsp:txXfrm>
        <a:off x="3788847" y="1709624"/>
        <a:ext cx="783174" cy="522115"/>
      </dsp:txXfrm>
    </dsp:sp>
    <dsp:sp modelId="{9B1D4F86-7B68-4EB7-9308-36E839532BBA}">
      <dsp:nvSpPr>
        <dsp:cNvPr id="0" name=""/>
        <dsp:cNvSpPr/>
      </dsp:nvSpPr>
      <dsp:spPr>
        <a:xfrm>
          <a:off x="4702549" y="1709624"/>
          <a:ext cx="1305289" cy="5221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Evaluation</a:t>
          </a:r>
          <a:endParaRPr lang="en-US" sz="800" kern="1200"/>
        </a:p>
      </dsp:txBody>
      <dsp:txXfrm>
        <a:off x="4963607" y="1709624"/>
        <a:ext cx="783174" cy="522115"/>
      </dsp:txXfrm>
    </dsp:sp>
    <dsp:sp modelId="{025068F7-DEE1-4E6A-9C95-8C8FF77D536A}">
      <dsp:nvSpPr>
        <dsp:cNvPr id="0" name=""/>
        <dsp:cNvSpPr/>
      </dsp:nvSpPr>
      <dsp:spPr>
        <a:xfrm>
          <a:off x="5877310" y="1709624"/>
          <a:ext cx="1305289" cy="5221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Deployment</a:t>
          </a:r>
          <a:endParaRPr lang="en-US" sz="800" kern="1200"/>
        </a:p>
      </dsp:txBody>
      <dsp:txXfrm>
        <a:off x="6138368" y="1709624"/>
        <a:ext cx="783174" cy="522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Student Performance Prediction Support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</a:t>
            </a:r>
            <a:r>
              <a:rPr lang="en-US" dirty="0"/>
              <a:t>The Problem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endParaRPr lang="en-US" b="1" dirty="0" smtClean="0"/>
          </a:p>
          <a:p>
            <a:pPr marL="68580" indent="0">
              <a:buNone/>
            </a:pPr>
            <a:r>
              <a:rPr lang="en-US" b="1" dirty="0" smtClean="0"/>
              <a:t>Why </a:t>
            </a:r>
            <a:r>
              <a:rPr lang="en-US" b="1" dirty="0"/>
              <a:t>Did We Build This</a:t>
            </a:r>
            <a:r>
              <a:rPr lang="en-US" b="1" dirty="0" smtClean="0"/>
              <a:t>?</a:t>
            </a:r>
          </a:p>
          <a:p>
            <a:r>
              <a:rPr lang="en-US" dirty="0"/>
              <a:t>Many students struggle silently.</a:t>
            </a:r>
          </a:p>
          <a:p>
            <a:r>
              <a:rPr lang="en-US" dirty="0"/>
              <a:t>Reactive support is too late</a:t>
            </a:r>
            <a:r>
              <a:rPr lang="en-US" dirty="0" smtClean="0"/>
              <a:t>.</a:t>
            </a:r>
            <a:endParaRPr lang="en-US" b="1" dirty="0" smtClean="0"/>
          </a:p>
          <a:p>
            <a:pPr marL="68580" indent="0">
              <a:buNone/>
            </a:pPr>
            <a:r>
              <a:rPr lang="en-US" dirty="0"/>
              <a:t>Shift from </a:t>
            </a:r>
            <a:r>
              <a:rPr lang="en-US" b="1" dirty="0"/>
              <a:t>Reactive</a:t>
            </a:r>
            <a:r>
              <a:rPr lang="en-US" dirty="0"/>
              <a:t> to </a:t>
            </a:r>
            <a:r>
              <a:rPr lang="en-US" b="1" dirty="0"/>
              <a:t>Proactive</a:t>
            </a:r>
            <a:r>
              <a:rPr lang="en-US" dirty="0"/>
              <a:t> support.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Goal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b="1" dirty="0" smtClean="0"/>
              <a:t>What </a:t>
            </a:r>
            <a:r>
              <a:rPr lang="en-US" b="1" dirty="0"/>
              <a:t>We Set Out To </a:t>
            </a:r>
            <a:r>
              <a:rPr lang="en-US" b="1" dirty="0" smtClean="0"/>
              <a:t>Achieve:</a:t>
            </a:r>
            <a:endParaRPr b="1" dirty="0"/>
          </a:p>
          <a:p>
            <a:r>
              <a:rPr lang="en-US" dirty="0"/>
              <a:t>Preprocess and analyze student data.</a:t>
            </a:r>
          </a:p>
          <a:p>
            <a:r>
              <a:rPr lang="en-US" dirty="0"/>
              <a:t>Build and compare multiple ML models.</a:t>
            </a:r>
          </a:p>
          <a:p>
            <a:r>
              <a:rPr lang="en-US" dirty="0"/>
              <a:t>Integrate NLP for sentiment analysis.</a:t>
            </a:r>
          </a:p>
          <a:p>
            <a:r>
              <a:rPr lang="en-US" dirty="0"/>
              <a:t>Deploy the best model as a web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b="1" dirty="0"/>
              <a:t>Understanding the </a:t>
            </a:r>
            <a:r>
              <a:rPr lang="en-US" b="1" dirty="0" smtClean="0"/>
              <a:t>Data:</a:t>
            </a:r>
            <a:endParaRPr b="1" dirty="0"/>
          </a:p>
          <a:p>
            <a:r>
              <a:rPr lang="en-US" dirty="0"/>
              <a:t>Source: UCI Machine Learning Repository</a:t>
            </a:r>
          </a:p>
          <a:p>
            <a:r>
              <a:rPr lang="en-US" dirty="0"/>
              <a:t>649 Students | 33 Features</a:t>
            </a:r>
          </a:p>
          <a:p>
            <a:r>
              <a:rPr lang="en-US" b="1" dirty="0"/>
              <a:t>Demographic:</a:t>
            </a:r>
            <a:r>
              <a:rPr lang="en-US" dirty="0"/>
              <a:t> age, gender, address</a:t>
            </a:r>
          </a:p>
          <a:p>
            <a:r>
              <a:rPr lang="en-US" b="1" dirty="0"/>
              <a:t>Academic:</a:t>
            </a:r>
            <a:r>
              <a:rPr lang="en-US" dirty="0"/>
              <a:t> grades, study time, absences</a:t>
            </a:r>
          </a:p>
          <a:p>
            <a:r>
              <a:rPr lang="en-US" b="1" dirty="0"/>
              <a:t>Social:</a:t>
            </a:r>
            <a:r>
              <a:rPr lang="en-US" dirty="0"/>
              <a:t> alcohol consumption, free time</a:t>
            </a:r>
          </a:p>
          <a:p>
            <a:r>
              <a:rPr lang="en-US" b="1" dirty="0"/>
              <a:t>Target:</a:t>
            </a:r>
            <a:r>
              <a:rPr lang="en-US" dirty="0"/>
              <a:t> Final Grade (G3)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Our Methodology</a:t>
            </a:r>
            <a:br>
              <a:rPr lang="en-US" dirty="0" smtClean="0"/>
            </a:br>
            <a:r>
              <a:rPr lang="en-US" sz="2400" dirty="0"/>
              <a:t>How We Did It: The AI </a:t>
            </a:r>
            <a:r>
              <a:rPr lang="en-US" sz="2400" dirty="0" smtClean="0"/>
              <a:t>Pipeline</a:t>
            </a:r>
            <a:endParaRPr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806990"/>
              </p:ext>
            </p:extLst>
          </p:nvPr>
        </p:nvGraphicFramePr>
        <p:xfrm>
          <a:off x="882126" y="2170664"/>
          <a:ext cx="7186108" cy="3941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Comparison</a:t>
            </a:r>
            <a:br>
              <a:rPr lang="en-US" dirty="0" smtClean="0"/>
            </a:br>
            <a:r>
              <a:rPr lang="en-US" sz="2400" dirty="0"/>
              <a:t>Which Model Performed Best</a:t>
            </a:r>
            <a:r>
              <a:rPr lang="en-US" sz="2400" dirty="0" smtClean="0"/>
              <a:t>?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marL="68580" indent="0">
              <a:buNone/>
            </a:pPr>
            <a:endParaRPr lang="en-US" b="1" dirty="0" smtClean="0"/>
          </a:p>
          <a:p>
            <a:pPr marL="68580" indent="0">
              <a:buNone/>
            </a:pPr>
            <a:r>
              <a:rPr lang="en-US" b="1" dirty="0" smtClean="0">
                <a:solidFill>
                  <a:schemeClr val="accent1"/>
                </a:solidFill>
              </a:rPr>
              <a:t>Winner</a:t>
            </a:r>
            <a:r>
              <a:rPr lang="en-US" b="1" dirty="0">
                <a:solidFill>
                  <a:schemeClr val="accent1"/>
                </a:solidFill>
              </a:rPr>
              <a:t>: </a:t>
            </a:r>
            <a:r>
              <a:rPr lang="en-US" dirty="0"/>
              <a:t>Random </a:t>
            </a:r>
            <a:r>
              <a:rPr lang="en-US" dirty="0" smtClean="0"/>
              <a:t>Forest!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r>
              <a:rPr lang="en-US" b="1" dirty="0"/>
              <a:t>Reason:</a:t>
            </a:r>
            <a:r>
              <a:rPr lang="en-US" dirty="0"/>
              <a:t> Highest F1-Score. Robust against </a:t>
            </a:r>
            <a:r>
              <a:rPr lang="en-US" dirty="0" err="1"/>
              <a:t>overfitting</a:t>
            </a:r>
            <a:r>
              <a:rPr lang="en-US" dirty="0"/>
              <a:t>.</a:t>
            </a:r>
          </a:p>
          <a:p>
            <a:pPr marL="6858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Results </a:t>
            </a:r>
            <a:r>
              <a:rPr dirty="0" smtClean="0"/>
              <a:t>(</a:t>
            </a:r>
            <a:r>
              <a:rPr lang="en-US" dirty="0" smtClean="0"/>
              <a:t>Deep Learning &amp; NLP</a:t>
            </a:r>
            <a:r>
              <a:rPr dirty="0" smtClean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endParaRPr lang="en-US" b="1" dirty="0" smtClean="0"/>
          </a:p>
          <a:p>
            <a:pPr marL="68580" indent="0">
              <a:buNone/>
            </a:pPr>
            <a:r>
              <a:rPr lang="en-US" b="1" dirty="0" smtClean="0"/>
              <a:t>Neural </a:t>
            </a:r>
            <a:r>
              <a:rPr lang="en-US" b="1" dirty="0"/>
              <a:t>Network:</a:t>
            </a:r>
            <a:r>
              <a:rPr lang="en-US" dirty="0"/>
              <a:t> Also performed well.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r>
              <a:rPr lang="en-US" b="1" dirty="0"/>
              <a:t>NLP:</a:t>
            </a:r>
            <a:r>
              <a:rPr lang="en-US" dirty="0"/>
              <a:t> Found a significant link: Negative sentiment correlates with higher risk.</a:t>
            </a:r>
          </a:p>
          <a:p>
            <a:pPr marL="6858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Web </a:t>
            </a:r>
            <a:r>
              <a:rPr lang="en-US" dirty="0" smtClean="0"/>
              <a:t>App</a:t>
            </a:r>
            <a:endParaRPr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r>
              <a:rPr lang="en-US" sz="2800" b="1" dirty="0"/>
              <a:t>From Model to </a:t>
            </a:r>
            <a:r>
              <a:rPr lang="en-US" sz="2800" b="1" dirty="0" smtClean="0"/>
              <a:t>Application:</a:t>
            </a:r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r>
              <a:rPr lang="en-US" sz="2800" dirty="0" smtClean="0"/>
              <a:t>A </a:t>
            </a:r>
            <a:r>
              <a:rPr lang="en-US" sz="2800" dirty="0" err="1"/>
              <a:t>counsellor</a:t>
            </a:r>
            <a:r>
              <a:rPr lang="en-US" sz="2800" dirty="0"/>
              <a:t> inputs student data and gets an instant risk prediction.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b="1" dirty="0"/>
              <a:t>We Also Considered the </a:t>
            </a:r>
            <a:r>
              <a:rPr lang="en-US" b="1" dirty="0" smtClean="0"/>
              <a:t>Ethics:</a:t>
            </a:r>
          </a:p>
          <a:p>
            <a:r>
              <a:rPr lang="en-US" b="1" dirty="0" err="1"/>
              <a:t>Anonymization</a:t>
            </a:r>
            <a:r>
              <a:rPr lang="en-US" b="1" dirty="0"/>
              <a:t>:</a:t>
            </a:r>
            <a:r>
              <a:rPr lang="en-US" dirty="0"/>
              <a:t> No student names or personal IDs.</a:t>
            </a:r>
          </a:p>
          <a:p>
            <a:r>
              <a:rPr lang="en-US" b="1" dirty="0"/>
              <a:t>Bias:</a:t>
            </a:r>
            <a:r>
              <a:rPr lang="en-US" dirty="0"/>
              <a:t> We must audit for socio-economic bias.</a:t>
            </a:r>
          </a:p>
          <a:p>
            <a:r>
              <a:rPr lang="en-US" b="1" dirty="0"/>
              <a:t>Purpose:</a:t>
            </a:r>
            <a:r>
              <a:rPr lang="en-US" dirty="0"/>
              <a:t> A tool to </a:t>
            </a:r>
            <a:r>
              <a:rPr lang="en-US" b="1" dirty="0"/>
              <a:t>HELP</a:t>
            </a:r>
            <a:r>
              <a:rPr lang="en-US" dirty="0"/>
              <a:t> students, not to label them.</a:t>
            </a:r>
          </a:p>
          <a:p>
            <a:pPr marL="68580" indent="0">
              <a:buNone/>
            </a:pPr>
            <a:endParaRPr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Screenshots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b="1" dirty="0" smtClean="0"/>
              <a:t>Data head:</a:t>
            </a:r>
          </a:p>
          <a:p>
            <a:pPr marL="68580" indent="0">
              <a:buNone/>
            </a:pP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84" y="3314606"/>
            <a:ext cx="8079316" cy="796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6987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Screenshots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b="1" dirty="0" smtClean="0"/>
              <a:t>Feature engineering code:</a:t>
            </a:r>
          </a:p>
          <a:p>
            <a:pPr marL="68580" indent="0">
              <a:buNone/>
            </a:pPr>
            <a:endParaRPr lang="en-US" b="1" dirty="0"/>
          </a:p>
          <a:p>
            <a:pPr marL="68580" indent="0">
              <a:buNone/>
            </a:pPr>
            <a:endParaRPr 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47" y="3261783"/>
            <a:ext cx="7337454" cy="16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8692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Screenshots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b="1" dirty="0"/>
              <a:t>Model Comparison </a:t>
            </a:r>
            <a:r>
              <a:rPr lang="en-US" b="1" dirty="0" smtClean="0"/>
              <a:t>Table:</a:t>
            </a:r>
          </a:p>
          <a:p>
            <a:pPr marL="68580" indent="0">
              <a:buNone/>
            </a:pPr>
            <a:endParaRPr lang="en-US" b="1" dirty="0"/>
          </a:p>
          <a:p>
            <a:pPr marL="68580" indent="0">
              <a:buNone/>
            </a:pPr>
            <a:endParaRPr lang="en-US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92" y="3183466"/>
            <a:ext cx="6259513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8832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Screenshots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b="1" dirty="0"/>
              <a:t>Neural Network Training Plot:</a:t>
            </a:r>
            <a:r>
              <a:rPr lang="en-US" dirty="0"/>
              <a:t> </a:t>
            </a:r>
            <a:endParaRPr lang="en-US" dirty="0" smtClean="0"/>
          </a:p>
          <a:p>
            <a:pPr marL="68580" indent="0">
              <a:buNone/>
            </a:pPr>
            <a:endParaRPr lang="en-US" b="1" dirty="0"/>
          </a:p>
          <a:p>
            <a:pPr marL="68580" indent="0">
              <a:buNone/>
            </a:pPr>
            <a:endParaRPr lang="en-US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3116792"/>
            <a:ext cx="7622215" cy="2378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8769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Screenshots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b="1" dirty="0"/>
              <a:t>Sentiment Analysis Boxplot:</a:t>
            </a:r>
            <a:r>
              <a:rPr lang="en-US" dirty="0"/>
              <a:t> </a:t>
            </a:r>
            <a:endParaRPr lang="en-US" b="1" dirty="0"/>
          </a:p>
          <a:p>
            <a:pPr marL="68580" indent="0">
              <a:buNone/>
            </a:pPr>
            <a:endParaRPr lang="en-US" b="1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558" y="2749839"/>
            <a:ext cx="3779642" cy="2397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558" y="5147732"/>
            <a:ext cx="4437592" cy="1172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6563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Screenshots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b="1" dirty="0" smtClean="0"/>
              <a:t>The Web App:</a:t>
            </a:r>
          </a:p>
          <a:p>
            <a:pPr marL="68580" indent="0">
              <a:buNone/>
            </a:pPr>
            <a:endParaRPr lang="en-US" b="1" dirty="0"/>
          </a:p>
          <a:p>
            <a:pPr marL="68580" indent="0">
              <a:buNone/>
            </a:pPr>
            <a:endParaRPr lang="en-US" b="1" dirty="0" smtClean="0"/>
          </a:p>
        </p:txBody>
      </p:sp>
      <p:pic>
        <p:nvPicPr>
          <p:cNvPr id="6146" name="Picture 2" descr="D:\Down\Whatsapp downs\WhatsApp Image 2025-09-04 at 16.59.35_033ad9d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209" y="2860265"/>
            <a:ext cx="4496858" cy="3283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6505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70</TotalTime>
  <Words>177</Words>
  <Application>Microsoft Office PowerPoint</Application>
  <PresentationFormat>On-screen Show (4:3)</PresentationFormat>
  <Paragraphs>61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Austin</vt:lpstr>
      <vt:lpstr>Student Performance Prediction Support System</vt:lpstr>
      <vt:lpstr> The Problem</vt:lpstr>
      <vt:lpstr>Our Goal</vt:lpstr>
      <vt:lpstr>Dataset</vt:lpstr>
      <vt:lpstr>Our Methodology How We Did It: The AI Pipeline</vt:lpstr>
      <vt:lpstr>Model Comparison Which Model Performed Best?</vt:lpstr>
      <vt:lpstr>Results (Deep Learning &amp; NLP)</vt:lpstr>
      <vt:lpstr>The Web App</vt:lpstr>
      <vt:lpstr>Ethical Considerations</vt:lpstr>
      <vt:lpstr>Some Screenshots</vt:lpstr>
      <vt:lpstr>Some Screenshots</vt:lpstr>
      <vt:lpstr>Some Screenshots</vt:lpstr>
      <vt:lpstr>Some Screenshots</vt:lpstr>
      <vt:lpstr>Some Screenshots</vt:lpstr>
      <vt:lpstr>Some Screenshots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Prediction Support System</dc:title>
  <dc:creator>Mextr0</dc:creator>
  <dc:description>generated using python-pptx</dc:description>
  <cp:lastModifiedBy>hp</cp:lastModifiedBy>
  <cp:revision>13</cp:revision>
  <dcterms:created xsi:type="dcterms:W3CDTF">2013-01-27T09:14:16Z</dcterms:created>
  <dcterms:modified xsi:type="dcterms:W3CDTF">2025-09-04T16:49:25Z</dcterms:modified>
</cp:coreProperties>
</file>